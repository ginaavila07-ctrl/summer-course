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20"/>
  </p:notesMasterIdLst>
  <p:sldIdLst>
    <p:sldId id="271" r:id="rId2"/>
    <p:sldId id="272" r:id="rId3"/>
    <p:sldId id="274" r:id="rId4"/>
    <p:sldId id="275" r:id="rId5"/>
    <p:sldId id="276" r:id="rId6"/>
    <p:sldId id="273" r:id="rId7"/>
    <p:sldId id="277" r:id="rId8"/>
    <p:sldId id="278" r:id="rId9"/>
    <p:sldId id="279" r:id="rId10"/>
    <p:sldId id="280" r:id="rId11"/>
    <p:sldId id="282" r:id="rId12"/>
    <p:sldId id="283" r:id="rId13"/>
    <p:sldId id="286" r:id="rId14"/>
    <p:sldId id="285" r:id="rId15"/>
    <p:sldId id="287" r:id="rId16"/>
    <p:sldId id="288" r:id="rId17"/>
    <p:sldId id="289" r:id="rId18"/>
    <p:sldId id="29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1"/>
    <p:restoredTop sz="89194" autoAdjust="0"/>
  </p:normalViewPr>
  <p:slideViewPr>
    <p:cSldViewPr snapToGrid="0">
      <p:cViewPr varScale="1">
        <p:scale>
          <a:sx n="73" d="100"/>
          <a:sy n="73" d="100"/>
        </p:scale>
        <p:origin x="5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F5B96-EC90-4B10-91AC-E32DA21E81E1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57D5F-ED05-449E-97D0-205DAB987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1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next three slides are real errors from AI Techs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57D5F-ED05-449E-97D0-205DAB98724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62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8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081420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8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24637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8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898316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3415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8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3188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8 July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75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8 July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7886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8 July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036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84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345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8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974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8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484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97708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7990170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220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8 July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138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8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3929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4600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512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04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83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736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82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67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3185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17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3873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20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83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644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 preserve="1">
  <p:cSld name="DEFAUL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3855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8C2E-661D-51E2-ED90-348CF28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9564-2BF9-8DCD-A28E-9381CAF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3C069-210D-286C-4C3D-4A1E6D37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C136A-C674-A923-5AF9-6FA91140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792A-A4FA-3A54-7252-A8321589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6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8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51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9" r:id="rId32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8 July 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46ADB6E-BC56-3C27-2A0A-35E73FABB31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0C6FBC6-02EE-BCAB-F4BE-55F08C23155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6DB708A-C949-6DA8-7139-3FAEFE5543C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F6B6007-9D1F-7104-8708-45C298040D8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55FE557-4866-5BB4-DE77-8B5E492D4B8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39878FC-6A61-CBFA-CF81-AFF5AADAE7F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06296EC-84C6-B6A8-6DB1-BB87913418B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6230E08-95C7-1ABC-04DD-B3E67247044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94E5925-AC66-068E-AB62-596C94A1D05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17C8C24-7523-5A3A-4E24-6498DA2B0172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D5532DA0-C4AC-25AE-AF0A-F96DF3B9D3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853BCC7-1D6B-DEF8-193A-1457935068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0C934-2ECF-7489-9A80-BD15C8A4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FFE86A-2234-8E3B-88B4-3A4EEF395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and discuss how error messages are structured</a:t>
            </a:r>
          </a:p>
          <a:p>
            <a:r>
              <a:rPr lang="en-US" dirty="0"/>
              <a:t>Utilize software documentation to implement a solution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994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5758A-6E16-3318-23B1-550091320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/ 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55F68-4BE5-FD42-1DB4-113C5EF98E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Applications need to present information to the user…</a:t>
            </a:r>
          </a:p>
          <a:p>
            <a:r>
              <a:rPr lang="en-US" dirty="0"/>
              <a:t>In a GUI </a:t>
            </a:r>
            <a:r>
              <a:rPr lang="en-US" dirty="0">
                <a:sym typeface="Wingdings" panose="05000000000000000000" pitchFamily="2" charset="2"/>
              </a:rPr>
              <a:t> pop-up</a:t>
            </a:r>
          </a:p>
          <a:p>
            <a:r>
              <a:rPr lang="en-US" dirty="0"/>
              <a:t>In a CLI…</a:t>
            </a:r>
          </a:p>
          <a:p>
            <a:r>
              <a:rPr lang="en-US" dirty="0"/>
              <a:t>Some messages are useful, some are not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21CBE-27B5-722A-0F33-171A46F093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836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9B0DB-70F6-C6D0-A5BA-59BB90A5F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Be Success…</a:t>
            </a:r>
            <a:br>
              <a:rPr lang="en-US"/>
            </a:br>
            <a:r>
              <a:rPr lang="en-US"/>
              <a:t>Or Not To Be Success…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0395C4-DCBC-DE85-0456-65D6339F42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334793"/>
            <a:ext cx="7680960" cy="5059832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1FD2327-8053-10B4-39E9-3CF8250351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44" y="1325881"/>
            <a:ext cx="8231292" cy="53899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17C01D-460D-2BE7-0809-DD808ACFF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80" y="1634588"/>
            <a:ext cx="10343359" cy="12113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DD4340-BAC3-6146-8467-8D07C56804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679" y="1543800"/>
            <a:ext cx="10214059" cy="2947543"/>
          </a:xfrm>
          <a:prstGeom prst="rect">
            <a:avLst/>
          </a:prstGeom>
        </p:spPr>
      </p:pic>
      <p:pic>
        <p:nvPicPr>
          <p:cNvPr id="14" name="Picture 13" descr="What Are Linux Log Files and How Can You Read Them?">
            <a:extLst>
              <a:ext uri="{FF2B5EF4-FFF2-40B4-BE49-F238E27FC236}">
                <a16:creationId xmlns:a16="http://schemas.microsoft.com/office/drawing/2014/main" id="{11CC4DA5-3A51-C413-A135-181979058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234" y="1543017"/>
            <a:ext cx="10522126" cy="5314983"/>
          </a:xfrm>
          <a:prstGeom prst="rect">
            <a:avLst/>
          </a:prstGeom>
        </p:spPr>
      </p:pic>
      <p:pic>
        <p:nvPicPr>
          <p:cNvPr id="15" name="Picture 14" descr="Manually Add Messages To Linux System Log Files - OSTechNix">
            <a:extLst>
              <a:ext uri="{FF2B5EF4-FFF2-40B4-BE49-F238E27FC236}">
                <a16:creationId xmlns:a16="http://schemas.microsoft.com/office/drawing/2014/main" id="{30393AF0-EA97-F920-3A12-50DD638D41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411" y="1703068"/>
            <a:ext cx="10117882" cy="5052657"/>
          </a:xfrm>
          <a:prstGeom prst="rect">
            <a:avLst/>
          </a:prstGeom>
        </p:spPr>
      </p:pic>
      <p:pic>
        <p:nvPicPr>
          <p:cNvPr id="18" name="Picture 17" descr="Task failed successfully : r/MemeRestoration">
            <a:extLst>
              <a:ext uri="{FF2B5EF4-FFF2-40B4-BE49-F238E27FC236}">
                <a16:creationId xmlns:a16="http://schemas.microsoft.com/office/drawing/2014/main" id="{C6CEE4D2-A426-EAFA-3340-9FE152167D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1628758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3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845C-2915-95EB-5D9A-AB7C0F18E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81613-9791-5AA3-9177-06E5CC9FD5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All UI/UX come from software</a:t>
            </a:r>
          </a:p>
          <a:p>
            <a:r>
              <a:rPr lang="en-US" dirty="0"/>
              <a:t>Software is written by humans</a:t>
            </a:r>
          </a:p>
          <a:p>
            <a:r>
              <a:rPr lang="en-US" dirty="0"/>
              <a:t>Humans are… human</a:t>
            </a:r>
          </a:p>
          <a:p>
            <a:pPr lvl="1"/>
            <a:r>
              <a:rPr lang="en-US" dirty="0"/>
              <a:t>Cannot anticipate all outcomes</a:t>
            </a:r>
          </a:p>
          <a:p>
            <a:pPr lvl="1"/>
            <a:r>
              <a:rPr lang="en-US" dirty="0"/>
              <a:t>Cannot anticipate the myriad of ways users will mess it up</a:t>
            </a:r>
          </a:p>
          <a:p>
            <a:pPr lvl="1"/>
            <a:r>
              <a:rPr lang="en-US" dirty="0"/>
              <a:t>Sometimes wrong! 🤷</a:t>
            </a:r>
          </a:p>
        </p:txBody>
      </p:sp>
      <p:pic>
        <p:nvPicPr>
          <p:cNvPr id="5" name="Content Placeholder 4" descr="Developer Vs User: The Eternal UI Comedy · ProgrammerHumor.io">
            <a:extLst>
              <a:ext uri="{FF2B5EF4-FFF2-40B4-BE49-F238E27FC236}">
                <a16:creationId xmlns:a16="http://schemas.microsoft.com/office/drawing/2014/main" id="{85E49605-630D-E87B-D3B2-EA31ACD7A4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81234" y="1600200"/>
            <a:ext cx="362188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6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42CA-3C94-562E-B7A5-9CEB18B4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(Error)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313A4-5B32-5E6A-C0C0-50E207C5D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2646506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CF25B-8C8A-5387-B998-D6D10E5B0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684986"/>
          </a:xfrm>
        </p:spPr>
        <p:txBody>
          <a:bodyPr/>
          <a:lstStyle/>
          <a:p>
            <a:r>
              <a:rPr lang="en-US" dirty="0"/>
              <a:t>Severity</a:t>
            </a:r>
          </a:p>
          <a:p>
            <a:pPr lvl="1"/>
            <a:r>
              <a:rPr lang="en-US" dirty="0"/>
              <a:t>Critical</a:t>
            </a:r>
          </a:p>
          <a:p>
            <a:pPr lvl="1"/>
            <a:r>
              <a:rPr lang="en-US" dirty="0"/>
              <a:t>Warning</a:t>
            </a:r>
          </a:p>
          <a:p>
            <a:pPr lvl="1"/>
            <a:r>
              <a:rPr lang="en-US" dirty="0"/>
              <a:t>Informational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The context changes if you’re a developer or user</a:t>
            </a:r>
          </a:p>
        </p:txBody>
      </p:sp>
    </p:spTree>
    <p:extLst>
      <p:ext uri="{BB962C8B-B14F-4D97-AF65-F5344CB8AC3E}">
        <p14:creationId xmlns:p14="http://schemas.microsoft.com/office/powerpoint/2010/main" val="317147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B7C2D-0F4B-970A-CB04-9F35B7AEF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AE84C-D942-7E2C-21B4-993D44DBF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2193" y="1600200"/>
            <a:ext cx="7891166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Parsing configuration file...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Unexpected token '}' at line 42.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Parsing aborted.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Application terminated.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EC0108-BA56-DFED-327D-56A5D8590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276" y="1600200"/>
            <a:ext cx="2656380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2448023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9E38A-3F24-A519-4916-C1ECA646B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38CE9-F17D-B3DE-F97F-E2EC35CE9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0B954-FF68-5DFF-DABE-74B6B71C8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2193" y="1600200"/>
            <a:ext cx="7891166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Processing request #1287...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NullReferenceException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Object reference not set to an instance of an object.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Stack trace: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at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UserService.GetProfile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D20074-4296-094B-7769-D11DFBB10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276" y="1600200"/>
            <a:ext cx="2656380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1514595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14CC1-6E4C-2000-A7B5-326557F77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AF067-F309-7B1A-23D4-080C9670B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8BC5D-F319-1E2D-95F1-76523259F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2193" y="1600200"/>
            <a:ext cx="7891166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User requested 'Delete Project’.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User not authorized to ‘delete’.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EE7076-4D17-EA3D-8818-8CEC67A2F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276" y="1600200"/>
            <a:ext cx="2656380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4222189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22FB6-8716-7133-986C-94D742189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DEA3-A667-5DD5-93EE-7E920A9E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3F33B-857C-5E18-4B54-8D8D9E7EF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2193" y="1600200"/>
            <a:ext cx="7891166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Saving new order...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Foreign key constraint violation.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Customer ID '9821' does not exist.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Database transaction rolled back.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EBA894-A014-B42F-2D18-4041E84D0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276" y="1600200"/>
            <a:ext cx="2656380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1271334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CDD63-9BFC-1E25-DFD0-29884B407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0E2C-39E4-C91F-327C-67BB482A9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23C26-DA29-0A92-1F38-E190AEF31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2193" y="1600200"/>
            <a:ext cx="7891166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Connecting to remote service...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Waiting for response...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Request timed out after 30 seconds.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DD7AD9-4DD2-3450-6B22-A0CBEF8FC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276" y="1600200"/>
            <a:ext cx="2656380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751344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A48BC41-B7E0-0F60-67F3-E1532FE1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Issue…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C1269E-5C21-4199-A859-E350F9E73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629784"/>
            <a:ext cx="11170394" cy="441263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981954-3E95-12AC-D9BE-D401F9709FC7}"/>
              </a:ext>
            </a:extLst>
          </p:cNvPr>
          <p:cNvCxnSpPr/>
          <p:nvPr/>
        </p:nvCxnSpPr>
        <p:spPr>
          <a:xfrm flipH="1">
            <a:off x="5381297" y="3273799"/>
            <a:ext cx="4649367" cy="1124607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323158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394E-5C11-2C65-8C0B-473E08756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Issue…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D851A7-1631-511A-6AAF-EA71B5E0C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40" y="2566789"/>
            <a:ext cx="10470452" cy="283552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20E53A-1DE5-FD5B-62CE-9858D9CBB20C}"/>
              </a:ext>
            </a:extLst>
          </p:cNvPr>
          <p:cNvCxnSpPr/>
          <p:nvPr/>
        </p:nvCxnSpPr>
        <p:spPr>
          <a:xfrm flipH="1">
            <a:off x="7914290" y="2304393"/>
            <a:ext cx="4649367" cy="1124607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343340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EB591-FC5B-FB70-0731-91156470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Issue…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E6137-9421-24C7-96D7-C86E74176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107332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│ Error: creating App Service Plan (Subscription: &lt;subscription-id&gt;│ Resource Group Name: "continuous-monitoring-rg-48343"│ Server Farm Name: "webapp-asp-2023-48343"): performing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CreateOrUpdate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unexpected status 409 (409 Conflict) with response: {"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Code":"Conflict","Message":"The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pricing tier 'Isolated' is not allowed in this resource group. Use this link to learn more: https://aka.ms/app-service-plan-scale-not-allowed","Target":null,"Details":[{"Message":"The pricing tier 'Isolated' is not allowed in this resource group. Use this link to learn more: https://aka.ms/app-service-plan-scale-not-allowed"},{"Code":"Conflict"},{"ErrorEntity":{"ExtendedCode":"04114","MessageTemplate":"The pricing tier '{0}' is not allowed in this resource group. Use this link to learn more: https://aka.ms/app-service-plan-scale-not-allowed","Parameters":["Isolated"],"Code":"Conflict","Message":"The pricing tier 'Isolated' is not allowed in this resource group. Use this link to learn more: https://aka.ms/app-service-plan-scale-not-allowed"}}],"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Innererror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":null}│ │  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azurerm_service_plan.appserviceplan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,│   on main.tf line 71, in resource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azurerm_service_plan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appserviceplan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":│   71: resource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azurerm_service_plan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appserviceplan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{│ │ creating App Service Plan (Subscription: &lt;subscription-id&gt;│ Resource Group Name: "continuous-monitoring-rg-48343"│ Server Farm Name: "webapp-asp-2023-48343"): performing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CreateOrUpdate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unexpected status 409 (409 Conflict) with response: {"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Code":"Conflict","Message":"The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pricing tier 'Isolated' is not allowed in this resource group. Use this link to learn more: https://aka.ms/app-service-plan-scale-not-allowed","Target":null,"Details":[{"Message":"The pricing tier 'Isolated' is not allowed in this resource group. Use this link to│ learn more: https://aka.ms/app-service-plan-scale-not-allowed"},{"Code":"Conflict"},{"ErrorEntity":{"ExtendedCode":"04114","MessageTemplate":"The pricing tier '{0}' is not allowed in this resource group. Use this link to learn more: https://aka.ms/app-service-plan-scale-not-allowed","Parameters":["Isolated"],"Code":"Conflict","Message":"The pricing tier 'Isolated' is not allowed in this resource group. Use this link to│ learn more: https://aka.ms/app-service-plan-scale-not-allowed"}}],"Innererror":null}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B659C1F-7F8B-58D2-ADA2-119FCB1A34EC}"/>
              </a:ext>
            </a:extLst>
          </p:cNvPr>
          <p:cNvCxnSpPr/>
          <p:nvPr/>
        </p:nvCxnSpPr>
        <p:spPr>
          <a:xfrm flipH="1">
            <a:off x="9942787" y="1325881"/>
            <a:ext cx="4649367" cy="1124607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FA8CA3-7F76-99E6-990C-362F4FBD7E7F}"/>
              </a:ext>
            </a:extLst>
          </p:cNvPr>
          <p:cNvCxnSpPr/>
          <p:nvPr/>
        </p:nvCxnSpPr>
        <p:spPr>
          <a:xfrm flipH="1">
            <a:off x="3898783" y="3565264"/>
            <a:ext cx="4649367" cy="1124607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332798-069B-3087-4172-746F9DD9D592}"/>
              </a:ext>
            </a:extLst>
          </p:cNvPr>
          <p:cNvCxnSpPr/>
          <p:nvPr/>
        </p:nvCxnSpPr>
        <p:spPr>
          <a:xfrm flipH="1">
            <a:off x="11235498" y="5321910"/>
            <a:ext cx="4649367" cy="1124607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301619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EEB8E-C577-9601-4222-E2E36F29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Issue…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4671665-5351-711B-D634-79EAA55AB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48" y="1783081"/>
            <a:ext cx="10707304" cy="376272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92DAFB-C886-898C-D170-9B29CEE64578}"/>
              </a:ext>
            </a:extLst>
          </p:cNvPr>
          <p:cNvCxnSpPr>
            <a:cxnSpLocks/>
          </p:cNvCxnSpPr>
          <p:nvPr/>
        </p:nvCxnSpPr>
        <p:spPr>
          <a:xfrm flipH="1">
            <a:off x="4007984" y="4249270"/>
            <a:ext cx="4576618" cy="593570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412627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DF558-33C3-3353-4B1C-9FB05ED0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C38EF-B09F-3678-9C75-9AC244E4F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5095415" cy="4572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Bottom-up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Top-down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Bottom, top, down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Skim to error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Chronological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03F5C-0D6A-A7F2-09C5-68EE825BB955}"/>
              </a:ext>
            </a:extLst>
          </p:cNvPr>
          <p:cNvSpPr txBox="1"/>
          <p:nvPr/>
        </p:nvSpPr>
        <p:spPr>
          <a:xfrm>
            <a:off x="4014951" y="3681248"/>
            <a:ext cx="83241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10:14:22 [INFO] User login initiated.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10:14:23 [INFO] Connecting to database...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10:14:28 [ERROR] Connection timed out after 5 seconds.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10:14:28 [INFO] Retrying connection...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10:14:34 [INFO] Connection established.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10:14:35 [INFO] Loading user profile...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10:14:35 [ERROR] Permission denied: User lacks PROFILE_READ permission.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10:14:35 [INFO] Returning HTTP 403 Forbidden.</a:t>
            </a:r>
          </a:p>
        </p:txBody>
      </p:sp>
    </p:spTree>
    <p:extLst>
      <p:ext uri="{BB962C8B-B14F-4D97-AF65-F5344CB8AC3E}">
        <p14:creationId xmlns:p14="http://schemas.microsoft.com/office/powerpoint/2010/main" val="2671356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B9794-0AC6-933F-C8C4-A2C6C460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70F2C-A5CF-ADEF-BB96-AE37AEB59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69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CC3E-3DC9-E773-3FF1-CDF396B7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Documentation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64104-7D38-7412-6BCE-1796D82C1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12863"/>
      </p:ext>
    </p:extLst>
  </p:cSld>
  <p:clrMapOvr>
    <a:masterClrMapping/>
  </p:clrMapOvr>
</p:sld>
</file>

<file path=ppt/theme/theme1.xml><?xml version="1.0" encoding="utf-8"?>
<a:theme xmlns:a="http://schemas.openxmlformats.org/drawingml/2006/main" name="1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198</TotalTime>
  <Words>952</Words>
  <Application>Microsoft Office PowerPoint</Application>
  <PresentationFormat>Widescreen</PresentationFormat>
  <Paragraphs>138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Arial Bold</vt:lpstr>
      <vt:lpstr>Courier New</vt:lpstr>
      <vt:lpstr>Wingdings</vt:lpstr>
      <vt:lpstr>1_US Army 2023 AFC DEVCOM Logo</vt:lpstr>
      <vt:lpstr>Reading</vt:lpstr>
      <vt:lpstr>Lesson Objectives</vt:lpstr>
      <vt:lpstr>UI / UX</vt:lpstr>
      <vt:lpstr>To Be Success… Or Not To Be Success…</vt:lpstr>
      <vt:lpstr>Messages</vt:lpstr>
      <vt:lpstr>(Error) Messages</vt:lpstr>
      <vt:lpstr>Examples…</vt:lpstr>
      <vt:lpstr>Examples…</vt:lpstr>
      <vt:lpstr>Examples…</vt:lpstr>
      <vt:lpstr>Examples…</vt:lpstr>
      <vt:lpstr>Examples…</vt:lpstr>
      <vt:lpstr>Spot the Issue…</vt:lpstr>
      <vt:lpstr>Spot the Issue…</vt:lpstr>
      <vt:lpstr>Spot the Issue…</vt:lpstr>
      <vt:lpstr>Spot the Issue…</vt:lpstr>
      <vt:lpstr>General Strategies</vt:lpstr>
      <vt:lpstr>Hands-On #1</vt:lpstr>
      <vt:lpstr>Documentation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145</cp:revision>
  <dcterms:created xsi:type="dcterms:W3CDTF">2025-09-17T14:29:17Z</dcterms:created>
  <dcterms:modified xsi:type="dcterms:W3CDTF">2026-07-08T20:47:51Z</dcterms:modified>
</cp:coreProperties>
</file>