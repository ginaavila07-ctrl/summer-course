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486" r:id="rId3"/>
    <p:sldId id="496" r:id="rId4"/>
    <p:sldId id="497" r:id="rId5"/>
    <p:sldId id="498" r:id="rId6"/>
    <p:sldId id="276" r:id="rId7"/>
    <p:sldId id="278" r:id="rId8"/>
    <p:sldId id="499" r:id="rId9"/>
    <p:sldId id="279" r:id="rId10"/>
    <p:sldId id="500" r:id="rId11"/>
    <p:sldId id="501" r:id="rId12"/>
    <p:sldId id="502" r:id="rId13"/>
    <p:sldId id="280" r:id="rId14"/>
    <p:sldId id="503" r:id="rId15"/>
    <p:sldId id="261" r:id="rId16"/>
    <p:sldId id="504" r:id="rId17"/>
    <p:sldId id="273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9388" autoAdjust="0"/>
  </p:normalViewPr>
  <p:slideViewPr>
    <p:cSldViewPr snapToGrid="0">
      <p:cViewPr varScale="1">
        <p:scale>
          <a:sx n="99" d="100"/>
          <a:sy n="99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4719-007A-9D20-6D43-3A4FCAAD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2F23C-3B6C-06AD-FDEF-F55DEF81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4E9A6-CB51-3C7D-DF18-0DDEC1AC4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7A3-AEE3-A283-A203-B801AB559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14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6376FA9-B5F0-B037-8046-B6615FDA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D419411-177D-3D00-B750-FE80CE812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78A8749A-07B8-1837-285F-24B38AB7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703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43152F8-3649-B807-263D-B391F303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D1E0B138-BDAD-22BA-9A52-5E4F9D169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CF3F03FE-85F3-88C7-4359-C593C7C6F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68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21EBE75-3C92-49AA-FC30-2E3C377B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>
            <a:extLst>
              <a:ext uri="{FF2B5EF4-FFF2-40B4-BE49-F238E27FC236}">
                <a16:creationId xmlns:a16="http://schemas.microsoft.com/office/drawing/2014/main" id="{3D4EEE32-92BF-3AE2-885A-C618F848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>
            <a:extLst>
              <a:ext uri="{FF2B5EF4-FFF2-40B4-BE49-F238E27FC236}">
                <a16:creationId xmlns:a16="http://schemas.microsoft.com/office/drawing/2014/main" id="{880F97B4-481F-18FB-2C4C-5968159F6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effectLst/>
              </a:rPr>
              <a:t>✅ The answer students should get: Grid coordinate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47.3</a:t>
            </a:r>
            <a:br>
              <a:rPr lang="en-US" dirty="0">
                <a:effectLst/>
              </a:rPr>
            </a:br>
            <a:r>
              <a:rPr lang="en-US" i="1" dirty="0">
                <a:effectLst/>
              </a:rPr>
              <a:t>(Top 5 values: 98, 96, 95, 92, 92 → sum = 473 → ÷ 10 = </a:t>
            </a:r>
            <a:r>
              <a:rPr lang="en-US" b="1" i="1" dirty="0">
                <a:effectLst/>
              </a:rPr>
              <a:t>47.3</a:t>
            </a:r>
            <a:r>
              <a:rPr lang="en-US" i="1" dirty="0">
                <a:effectLst/>
              </a:rPr>
              <a:t>)</a:t>
            </a:r>
            <a:endParaRPr lang="en-US" dirty="0">
              <a:effectLst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63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11101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57377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57907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0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6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3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7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48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1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368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3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4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00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3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6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7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3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339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0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548640" y="411482"/>
            <a:ext cx="8231293" cy="118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548640" y="2148840"/>
            <a:ext cx="6795135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800"/>
            </a:lvl1pPr>
            <a:lvl2pPr marL="1219170" lvl="1" indent="-412739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828754" lvl="2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2438339" lvl="3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3047924" lvl="4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3657509" lvl="5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4267093" lvl="6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4876678" lvl="7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5486263" lvl="8" indent="-412739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547688" y="6629400"/>
            <a:ext cx="8239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159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AC4D28-436C-C3E8-E0B9-92B51D6A48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7B45948-3FA2-8289-3EAE-A20EDE2342A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CB2761-784F-FC85-1B92-A698C4A1CD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250C71-2431-B0BF-147C-14C4481825E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164429E-3598-7EC8-96B5-A205B260BA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F0A8C28-8DFF-0BE4-4E6F-78C3DB802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A51FF-7403-41EC-CE28-89692499EFC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17B4346-4C78-DEEB-1565-BF4ABDA620B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C037BC6-AD6B-478A-0C6C-E8CC009C52E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B531CF-FB17-BE4C-19ED-F992FE113E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Basics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B49BAAE9-60E3-7F9D-E6F3-4455C3037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87CF-5E92-D709-ADC1-CD5AB2C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9CF-99E0-34C2-13BD-CE711791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Course Schedule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C03BA8-C242-A7E3-06B9-2FDDD142A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000" y="1318800"/>
            <a:ext cx="11176000" cy="495514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C366FE1-DAFA-E7EC-025F-E1D1E8686851}"/>
              </a:ext>
            </a:extLst>
          </p:cNvPr>
          <p:cNvSpPr/>
          <p:nvPr/>
        </p:nvSpPr>
        <p:spPr>
          <a:xfrm>
            <a:off x="235884" y="3429000"/>
            <a:ext cx="6284332" cy="302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918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31C143A-1CF1-E401-0CB5-D7BA223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55422540-3734-61F7-53F7-602380429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1235" y="2834482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3462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05E84A-1205-0701-E7F9-9675FAC2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CEB7E12F-E2C9-500B-63E1-77AA22B0D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1602" y="3035881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lvl="0"/>
            <a:r>
              <a:rPr lang="en-US" dirty="0"/>
              <a:t>What did we do last lesson?</a:t>
            </a:r>
          </a:p>
        </p:txBody>
      </p:sp>
    </p:spTree>
    <p:extLst>
      <p:ext uri="{BB962C8B-B14F-4D97-AF65-F5344CB8AC3E}">
        <p14:creationId xmlns:p14="http://schemas.microsoft.com/office/powerpoint/2010/main" val="18085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DE2D2EB-D5DC-2337-CDF3-57F12874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>
            <a:extLst>
              <a:ext uri="{FF2B5EF4-FFF2-40B4-BE49-F238E27FC236}">
                <a16:creationId xmlns:a16="http://schemas.microsoft.com/office/drawing/2014/main" id="{16074BB9-F153-95B5-1D77-133E1B58EF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928" y="629565"/>
            <a:ext cx="8231293" cy="1189037"/>
          </a:xfr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lvl="0"/>
            <a:r>
              <a:rPr lang="en-US" dirty="0"/>
              <a:t>Pre class problem 1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6BFF574-D87F-5665-E149-A6F07BF5762A}"/>
              </a:ext>
            </a:extLst>
          </p:cNvPr>
          <p:cNvSpPr txBox="1">
            <a:spLocks/>
          </p:cNvSpPr>
          <p:nvPr/>
        </p:nvSpPr>
        <p:spPr>
          <a:xfrm>
            <a:off x="558265" y="1542449"/>
            <a:ext cx="10601960" cy="402336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Intelligence analysts have intercepted a transmission from an enemy outpost. The signal contains </a:t>
            </a:r>
            <a:r>
              <a:rPr lang="en-US" sz="2800" b="1" dirty="0">
                <a:solidFill>
                  <a:schemeClr val="bg1"/>
                </a:solidFill>
              </a:rPr>
              <a:t>100 scrambled numeric values</a:t>
            </a:r>
            <a:r>
              <a:rPr lang="en-US" sz="2800" dirty="0">
                <a:solidFill>
                  <a:schemeClr val="bg1"/>
                </a:solidFill>
              </a:rPr>
              <a:t> — but buried inside are the </a:t>
            </a:r>
            <a:r>
              <a:rPr lang="en-US" sz="2800" b="1" dirty="0">
                <a:solidFill>
                  <a:schemeClr val="bg1"/>
                </a:solidFill>
              </a:rPr>
              <a:t>true coordinates</a:t>
            </a:r>
            <a:r>
              <a:rPr lang="en-US" sz="2800" dirty="0">
                <a:solidFill>
                  <a:schemeClr val="bg1"/>
                </a:solidFill>
              </a:rPr>
              <a:t> of the enemy's hidden command center.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Your commanding officer explains: </a:t>
            </a:r>
            <a:r>
              <a:rPr lang="en-US" sz="2800" i="1" dirty="0">
                <a:solidFill>
                  <a:schemeClr val="bg1"/>
                </a:solidFill>
              </a:rPr>
              <a:t>"The enemy encodes their location by hiding it in plain sight. Take the </a:t>
            </a:r>
            <a:r>
              <a:rPr lang="en-US" sz="2800" b="1" i="1" dirty="0">
                <a:solidFill>
                  <a:schemeClr val="bg1"/>
                </a:solidFill>
              </a:rPr>
              <a:t>5 highest signal values</a:t>
            </a:r>
            <a:r>
              <a:rPr lang="en-US" sz="2800" i="1" dirty="0">
                <a:solidFill>
                  <a:schemeClr val="bg1"/>
                </a:solidFill>
              </a:rPr>
              <a:t>, sum them together, then divide by </a:t>
            </a:r>
            <a:r>
              <a:rPr lang="en-US" sz="2800" b="1" i="1" dirty="0">
                <a:solidFill>
                  <a:schemeClr val="bg1"/>
                </a:solidFill>
              </a:rPr>
              <a:t>10</a:t>
            </a:r>
            <a:r>
              <a:rPr lang="en-US" sz="2800" i="1" dirty="0">
                <a:solidFill>
                  <a:schemeClr val="bg1"/>
                </a:solidFill>
              </a:rPr>
              <a:t>. The result is the target's grid coordinate."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Your mission: write a Python program to decode the transmission and report the coordinates.  You have 20 minutes to finish this before the enemy moves their command post.</a:t>
            </a:r>
          </a:p>
        </p:txBody>
      </p:sp>
    </p:spTree>
    <p:extLst>
      <p:ext uri="{BB962C8B-B14F-4D97-AF65-F5344CB8AC3E}">
        <p14:creationId xmlns:p14="http://schemas.microsoft.com/office/powerpoint/2010/main" val="75092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06019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Understand the difference between lists, tuples, dictionaries, and sets.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Know when and how to apply nested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Implement and discuss some basic list manipulation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388461"/>
            <a:ext cx="8231293" cy="1189037"/>
          </a:xfrm>
        </p:spPr>
        <p:txBody>
          <a:bodyPr/>
          <a:lstStyle/>
          <a:p>
            <a:r>
              <a:rPr lang="en-US" dirty="0"/>
              <a:t>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A12711-B623-20A5-8867-310A62CE9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21708"/>
              </p:ext>
            </p:extLst>
          </p:nvPr>
        </p:nvGraphicFramePr>
        <p:xfrm>
          <a:off x="549275" y="2004060"/>
          <a:ext cx="11093450" cy="3870960"/>
        </p:xfrm>
        <a:graphic>
          <a:graphicData uri="http://schemas.openxmlformats.org/drawingml/2006/table">
            <a:tbl>
              <a:tblPr/>
              <a:tblGrid>
                <a:gridCol w="5546725">
                  <a:extLst>
                    <a:ext uri="{9D8B030D-6E8A-4147-A177-3AD203B41FA5}">
                      <a16:colId xmlns:a16="http://schemas.microsoft.com/office/drawing/2014/main" val="1581277800"/>
                    </a:ext>
                  </a:extLst>
                </a:gridCol>
                <a:gridCol w="5546725">
                  <a:extLst>
                    <a:ext uri="{9D8B030D-6E8A-4147-A177-3AD203B41FA5}">
                      <a16:colId xmlns:a16="http://schemas.microsoft.com/office/drawing/2014/main" val="1748122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Syntax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my_list = [1, 2, 3]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729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Ordered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items maintain insertion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65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Mutable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items can be added, removed, or changed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5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Duplicates allowed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74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Indexable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zero-based: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my_list[0]</a:t>
                      </a:r>
                      <a:r>
                        <a:rPr lang="en-US"/>
                        <a:t> returns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3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Can mix data types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Yes —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[1, "hello", 3.14, True]</a:t>
                      </a:r>
                      <a:r>
                        <a:rPr lang="en-US"/>
                        <a:t> is valid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004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Nestable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 Yes — lists can contain other 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798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methods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.append()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.remove()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.sort()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.pop()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.reverse()</a:t>
                      </a:r>
                      <a:r>
                        <a:rPr lang="en-US" dirty="0"/>
                        <a:t>,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.extend()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11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Common use case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Any ordered, changeable collection of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238E-FA6F-1A28-F457-4DD6B2A2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84C1A7-8084-A931-D59A-D201391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B8134-8408-54E9-AD24-56048621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40556"/>
              </p:ext>
            </p:extLst>
          </p:nvPr>
        </p:nvGraphicFramePr>
        <p:xfrm>
          <a:off x="752893" y="1005999"/>
          <a:ext cx="10686214" cy="53460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43107">
                  <a:extLst>
                    <a:ext uri="{9D8B030D-6E8A-4147-A177-3AD203B41FA5}">
                      <a16:colId xmlns:a16="http://schemas.microsoft.com/office/drawing/2014/main" val="2504497373"/>
                    </a:ext>
                  </a:extLst>
                </a:gridCol>
                <a:gridCol w="5343107">
                  <a:extLst>
                    <a:ext uri="{9D8B030D-6E8A-4147-A177-3AD203B41FA5}">
                      <a16:colId xmlns:a16="http://schemas.microsoft.com/office/drawing/2014/main" val="736826440"/>
                    </a:ext>
                  </a:extLst>
                </a:gridCol>
              </a:tblGrid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Detail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0911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my_tuple = (1, 2, 3)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212807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Ordered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items maintain insertion order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796511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Mutable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❌ No — once created, items cannot be changed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976023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Duplicates allowed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7169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Indexable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zero-based: my_tuple[0] returns 1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597134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Can mix data types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(1, "hello", 3.14, True) is valid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669246"/>
                  </a:ext>
                </a:extLst>
              </a:tr>
              <a:tr h="30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Nestable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tuples can contain other tuples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166140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methods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.count(), .index() (only 2 — immutability limits options)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08395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Common use case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Fixed data that shouldn't change: coordinates, RGB values, database records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93684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Unpacking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✅ Yes — x, y, z = (1, 2, 3) assigns each value to a variable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746709"/>
                  </a:ext>
                </a:extLst>
              </a:tr>
              <a:tr h="53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Single-item syntax</a:t>
                      </a:r>
                      <a:endParaRPr lang="en-US" sz="1800"/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Requires trailing comma — (5,) is a tuple; (5) is just an integer</a:t>
                      </a:r>
                    </a:p>
                  </a:txBody>
                  <a:tcPr marL="79744" marR="79744" marT="39872" marB="398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40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04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D348-CAAF-3773-6861-C22AEF86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 IMMUTABLE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AB114-1471-32DD-621A-08AAFB643586}"/>
              </a:ext>
            </a:extLst>
          </p:cNvPr>
          <p:cNvSpPr txBox="1"/>
          <p:nvPr/>
        </p:nvSpPr>
        <p:spPr>
          <a:xfrm>
            <a:off x="847023" y="1185019"/>
            <a:ext cx="100872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Mutable</a:t>
            </a:r>
            <a:r>
              <a:rPr lang="en-US" sz="2400" dirty="0"/>
              <a:t> means you can change an object after it's created. </a:t>
            </a:r>
            <a:r>
              <a:rPr lang="en-US" sz="2400" b="1" dirty="0"/>
              <a:t>Immutable</a:t>
            </a:r>
            <a:r>
              <a:rPr lang="en-US" sz="2400" dirty="0"/>
              <a:t> means you cannot.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F51FA-9B33-7C87-C0E2-8368433DC3C8}"/>
              </a:ext>
            </a:extLst>
          </p:cNvPr>
          <p:cNvSpPr txBox="1"/>
          <p:nvPr/>
        </p:nvSpPr>
        <p:spPr>
          <a:xfrm>
            <a:off x="2095900" y="4442134"/>
            <a:ext cx="73849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# Tuple (immutable) — you CANNOT change it</a:t>
            </a:r>
          </a:p>
          <a:p>
            <a:r>
              <a:rPr lang="en-US" sz="2400" dirty="0" err="1"/>
              <a:t>my_tuple</a:t>
            </a:r>
            <a:r>
              <a:rPr lang="en-US" sz="2400" dirty="0"/>
              <a:t> = (1, 2, 3)</a:t>
            </a:r>
          </a:p>
          <a:p>
            <a:r>
              <a:rPr lang="en-US" sz="2400" dirty="0" err="1"/>
              <a:t>my_tuple</a:t>
            </a:r>
            <a:r>
              <a:rPr lang="en-US" sz="2400" dirty="0"/>
              <a:t>[0] = 99  # ❌ </a:t>
            </a:r>
            <a:r>
              <a:rPr lang="en-US" sz="2400" dirty="0" err="1"/>
              <a:t>TypeError</a:t>
            </a:r>
            <a:r>
              <a:rPr lang="en-US" sz="2400" dirty="0"/>
              <a:t>: 'tuple' object does not support item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6598D-D7BC-7556-9253-029C84CC8E6D}"/>
              </a:ext>
            </a:extLst>
          </p:cNvPr>
          <p:cNvSpPr txBox="1"/>
          <p:nvPr/>
        </p:nvSpPr>
        <p:spPr>
          <a:xfrm>
            <a:off x="2095900" y="2789554"/>
            <a:ext cx="6097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List (mutable) — you CAN change it</a:t>
            </a:r>
          </a:p>
          <a:p>
            <a:r>
              <a:rPr lang="en-US" sz="2400" dirty="0" err="1"/>
              <a:t>my_list</a:t>
            </a:r>
            <a:r>
              <a:rPr lang="en-US" sz="2400" dirty="0"/>
              <a:t> = [1, 2, 3]</a:t>
            </a:r>
          </a:p>
          <a:p>
            <a:r>
              <a:rPr lang="en-US" sz="2400" dirty="0" err="1"/>
              <a:t>my_list</a:t>
            </a:r>
            <a:r>
              <a:rPr lang="en-US" sz="2400" dirty="0"/>
              <a:t>[0] = 99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my_list</a:t>
            </a:r>
            <a:r>
              <a:rPr lang="en-US" sz="2400" dirty="0"/>
              <a:t>)  # [99, 2, 3]  ✅</a:t>
            </a:r>
          </a:p>
        </p:txBody>
      </p:sp>
    </p:spTree>
    <p:extLst>
      <p:ext uri="{BB962C8B-B14F-4D97-AF65-F5344CB8AC3E}">
        <p14:creationId xmlns:p14="http://schemas.microsoft.com/office/powerpoint/2010/main" val="373139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9053-3BA7-4689-91DA-53BA32F2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FADC-A473-4437-B98E-A54159E5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C9183-4CF2-2C57-D8E4-2AB6AE7813E7}"/>
              </a:ext>
            </a:extLst>
          </p:cNvPr>
          <p:cNvSpPr txBox="1"/>
          <p:nvPr/>
        </p:nvSpPr>
        <p:spPr>
          <a:xfrm>
            <a:off x="873493" y="1277675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Empty list</a:t>
            </a:r>
          </a:p>
          <a:p>
            <a:r>
              <a:rPr lang="en-US" dirty="0" err="1"/>
              <a:t>my_list</a:t>
            </a:r>
            <a:r>
              <a:rPr lang="en-US" dirty="0"/>
              <a:t> = []</a:t>
            </a:r>
          </a:p>
          <a:p>
            <a:r>
              <a:rPr lang="en-US" dirty="0" err="1"/>
              <a:t>my_list</a:t>
            </a:r>
            <a:r>
              <a:rPr lang="en-US" dirty="0"/>
              <a:t> = list()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3BA37-A210-F85E-A06E-8980DAAF79EF}"/>
              </a:ext>
            </a:extLst>
          </p:cNvPr>
          <p:cNvSpPr txBox="1"/>
          <p:nvPr/>
        </p:nvSpPr>
        <p:spPr>
          <a:xfrm>
            <a:off x="873493" y="2380192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With values</a:t>
            </a:r>
          </a:p>
          <a:p>
            <a:r>
              <a:rPr lang="en-US" dirty="0" err="1"/>
              <a:t>my_list</a:t>
            </a:r>
            <a:r>
              <a:rPr lang="en-US" dirty="0"/>
              <a:t> = [1, 2, 3]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FF212-E770-B425-1D93-B1B9601CD17E}"/>
              </a:ext>
            </a:extLst>
          </p:cNvPr>
          <p:cNvSpPr txBox="1"/>
          <p:nvPr/>
        </p:nvSpPr>
        <p:spPr>
          <a:xfrm>
            <a:off x="873493" y="336433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From another </a:t>
            </a:r>
            <a:r>
              <a:rPr lang="en-US" dirty="0" err="1"/>
              <a:t>iterable</a:t>
            </a:r>
            <a:endParaRPr lang="en-US" dirty="0"/>
          </a:p>
          <a:p>
            <a:r>
              <a:rPr lang="en-US" dirty="0" err="1"/>
              <a:t>my_list</a:t>
            </a:r>
            <a:r>
              <a:rPr lang="en-US" dirty="0"/>
              <a:t> = list("hello")        # ['h', 'e', 'l', 'l', 'o']</a:t>
            </a:r>
          </a:p>
          <a:p>
            <a:r>
              <a:rPr lang="en-US" dirty="0" err="1"/>
              <a:t>my_list</a:t>
            </a:r>
            <a:r>
              <a:rPr lang="en-US" dirty="0"/>
              <a:t> = list((1, 2, 3))      # [1, 2, 3]  (from a tuple)</a:t>
            </a:r>
          </a:p>
          <a:p>
            <a:r>
              <a:rPr lang="en-US" dirty="0" err="1"/>
              <a:t>my_list</a:t>
            </a:r>
            <a:r>
              <a:rPr lang="en-US" dirty="0"/>
              <a:t> = list(range(5))       # [0, 1, 2, 3, 4]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170AB-0615-06E2-F05B-73F418AE8775}"/>
              </a:ext>
            </a:extLst>
          </p:cNvPr>
          <p:cNvSpPr txBox="1"/>
          <p:nvPr/>
        </p:nvSpPr>
        <p:spPr>
          <a:xfrm>
            <a:off x="873493" y="476004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List comprehension</a:t>
            </a:r>
          </a:p>
          <a:p>
            <a:r>
              <a:rPr lang="en-US" dirty="0" err="1"/>
              <a:t>my_list</a:t>
            </a:r>
            <a:r>
              <a:rPr lang="en-US" dirty="0"/>
              <a:t> = [x * 2 for x in range(5)]   # [0, 2, 4, 6, 8]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A5A065-1C4A-16AE-7FAF-FEB554543234}"/>
              </a:ext>
            </a:extLst>
          </p:cNvPr>
          <p:cNvSpPr txBox="1"/>
          <p:nvPr/>
        </p:nvSpPr>
        <p:spPr>
          <a:xfrm>
            <a:off x="873493" y="5683370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Repeated values</a:t>
            </a:r>
          </a:p>
          <a:p>
            <a:r>
              <a:rPr lang="en-US" dirty="0" err="1"/>
              <a:t>my_list</a:t>
            </a:r>
            <a:r>
              <a:rPr lang="en-US" dirty="0"/>
              <a:t> = [0] * 5              # [0, 0, 0, 0, 0]</a:t>
            </a:r>
          </a:p>
        </p:txBody>
      </p:sp>
    </p:spTree>
    <p:extLst>
      <p:ext uri="{BB962C8B-B14F-4D97-AF65-F5344CB8AC3E}">
        <p14:creationId xmlns:p14="http://schemas.microsoft.com/office/powerpoint/2010/main" val="178826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D2DD-08CD-D892-FC09-8012B904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B93B-3316-AA40-8EEC-110DC481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3488E-E6D4-8785-85F1-4EE90C3C7549}"/>
              </a:ext>
            </a:extLst>
          </p:cNvPr>
          <p:cNvSpPr txBox="1"/>
          <p:nvPr/>
        </p:nvSpPr>
        <p:spPr>
          <a:xfrm>
            <a:off x="548640" y="1223451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Empty tuple</a:t>
            </a:r>
          </a:p>
          <a:p>
            <a:r>
              <a:rPr lang="en-US" dirty="0" err="1"/>
              <a:t>my_tuple</a:t>
            </a:r>
            <a:r>
              <a:rPr lang="en-US" dirty="0"/>
              <a:t> = ()</a:t>
            </a:r>
          </a:p>
          <a:p>
            <a:r>
              <a:rPr lang="en-US" dirty="0" err="1"/>
              <a:t>my_tuple</a:t>
            </a:r>
            <a:r>
              <a:rPr lang="en-US" dirty="0"/>
              <a:t> = tuple()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AA283-2046-FB97-A3A7-3EECA30EFD57}"/>
              </a:ext>
            </a:extLst>
          </p:cNvPr>
          <p:cNvSpPr txBox="1"/>
          <p:nvPr/>
        </p:nvSpPr>
        <p:spPr>
          <a:xfrm>
            <a:off x="548640" y="242378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With values</a:t>
            </a:r>
          </a:p>
          <a:p>
            <a:r>
              <a:rPr lang="en-US" dirty="0" err="1"/>
              <a:t>my_tuple</a:t>
            </a:r>
            <a:r>
              <a:rPr lang="en-US" dirty="0"/>
              <a:t> = (1, 2, 3)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6A6A9-4D4A-8264-6D0B-5009D29CFB4F}"/>
              </a:ext>
            </a:extLst>
          </p:cNvPr>
          <p:cNvSpPr txBox="1"/>
          <p:nvPr/>
        </p:nvSpPr>
        <p:spPr>
          <a:xfrm>
            <a:off x="548640" y="3374382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Parentheses are actually optional</a:t>
            </a:r>
          </a:p>
          <a:p>
            <a:r>
              <a:rPr lang="en-US" dirty="0" err="1"/>
              <a:t>my_tuple</a:t>
            </a:r>
            <a:r>
              <a:rPr lang="en-US" dirty="0"/>
              <a:t> = 1, 2, 3             # (1, 2, 3)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09B7BB-7250-7390-EE3F-979E92830AE2}"/>
              </a:ext>
            </a:extLst>
          </p:cNvPr>
          <p:cNvSpPr txBox="1"/>
          <p:nvPr/>
        </p:nvSpPr>
        <p:spPr>
          <a:xfrm>
            <a:off x="548640" y="4158279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Single item (trailing comma is required!)</a:t>
            </a:r>
          </a:p>
          <a:p>
            <a:r>
              <a:rPr lang="en-US" dirty="0" err="1"/>
              <a:t>my_tuple</a:t>
            </a:r>
            <a:r>
              <a:rPr lang="en-US" dirty="0"/>
              <a:t> = (5,)                # (5,)  ✅</a:t>
            </a:r>
          </a:p>
          <a:p>
            <a:r>
              <a:rPr lang="en-US" dirty="0" err="1"/>
              <a:t>my_tuple</a:t>
            </a:r>
            <a:r>
              <a:rPr lang="en-US" dirty="0"/>
              <a:t> = (5)                 # 5     ❌ this is just an integer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B1E0A-FD56-0F7B-B7B6-C4D080B4DD12}"/>
              </a:ext>
            </a:extLst>
          </p:cNvPr>
          <p:cNvSpPr txBox="1"/>
          <p:nvPr/>
        </p:nvSpPr>
        <p:spPr>
          <a:xfrm>
            <a:off x="548640" y="527933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From another </a:t>
            </a:r>
            <a:r>
              <a:rPr lang="en-US" dirty="0" err="1"/>
              <a:t>iterable</a:t>
            </a:r>
            <a:endParaRPr lang="en-US" dirty="0"/>
          </a:p>
          <a:p>
            <a:r>
              <a:rPr lang="en-US" dirty="0" err="1"/>
              <a:t>my_tuple</a:t>
            </a:r>
            <a:r>
              <a:rPr lang="en-US" dirty="0"/>
              <a:t> = tuple("hello")      # ('h', 'e', 'l', 'l', 'o')</a:t>
            </a:r>
          </a:p>
          <a:p>
            <a:r>
              <a:rPr lang="en-US" dirty="0" err="1"/>
              <a:t>my_tuple</a:t>
            </a:r>
            <a:r>
              <a:rPr lang="en-US" dirty="0"/>
              <a:t> = tuple([1, 2, 3])    # (1, 2, 3)  (from a list)</a:t>
            </a:r>
          </a:p>
          <a:p>
            <a:r>
              <a:rPr lang="en-US" dirty="0" err="1"/>
              <a:t>my_tuple</a:t>
            </a:r>
            <a:r>
              <a:rPr lang="en-US" dirty="0"/>
              <a:t> = tuple(range(5))     # (0, 1, 2, 3, 4)</a:t>
            </a:r>
          </a:p>
        </p:txBody>
      </p:sp>
    </p:spTree>
    <p:extLst>
      <p:ext uri="{BB962C8B-B14F-4D97-AF65-F5344CB8AC3E}">
        <p14:creationId xmlns:p14="http://schemas.microsoft.com/office/powerpoint/2010/main" val="2996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4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6BFE-A35B-EE92-3045-F70894EC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9B43-812E-17E6-2E93-BBCEC1D5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B20226-8296-5EAF-B028-288D546D5CF8}"/>
              </a:ext>
            </a:extLst>
          </p:cNvPr>
          <p:cNvSpPr txBox="1"/>
          <p:nvPr/>
        </p:nvSpPr>
        <p:spPr>
          <a:xfrm>
            <a:off x="777240" y="1443841"/>
            <a:ext cx="60976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my_list</a:t>
            </a:r>
            <a:r>
              <a:rPr lang="en-US" sz="2800" dirty="0"/>
              <a:t> = [1, 2, 3]</a:t>
            </a:r>
          </a:p>
          <a:p>
            <a:r>
              <a:rPr lang="en-US" sz="2800" dirty="0" err="1"/>
              <a:t>second_list</a:t>
            </a:r>
            <a:r>
              <a:rPr lang="en-US" sz="2800" dirty="0"/>
              <a:t> = </a:t>
            </a:r>
            <a:r>
              <a:rPr lang="en-US" sz="2800" dirty="0" err="1"/>
              <a:t>my_list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second_list</a:t>
            </a:r>
            <a:r>
              <a:rPr lang="en-US" sz="2800" dirty="0"/>
              <a:t>[0] = 100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my_list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875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5B9B-792C-0491-2A64-05D2E2B1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AA55F-998E-E195-F31E-3E01275ED749}"/>
              </a:ext>
            </a:extLst>
          </p:cNvPr>
          <p:cNvSpPr txBox="1"/>
          <p:nvPr/>
        </p:nvSpPr>
        <p:spPr>
          <a:xfrm>
            <a:off x="777240" y="1443841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my_list</a:t>
            </a:r>
            <a:r>
              <a:rPr lang="en-US" dirty="0"/>
              <a:t> = [1, 2, 3]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693D8-02C5-59F7-DE74-F713BB1C8BF9}"/>
              </a:ext>
            </a:extLst>
          </p:cNvPr>
          <p:cNvSpPr txBox="1"/>
          <p:nvPr/>
        </p:nvSpPr>
        <p:spPr>
          <a:xfrm>
            <a:off x="777239" y="2090172"/>
            <a:ext cx="66245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Slice copy</a:t>
            </a:r>
          </a:p>
          <a:p>
            <a:r>
              <a:rPr lang="en-US" dirty="0"/>
              <a:t>copy = </a:t>
            </a:r>
            <a:r>
              <a:rPr lang="en-US" dirty="0" err="1"/>
              <a:t>my_list</a:t>
            </a:r>
            <a:r>
              <a:rPr lang="en-US" dirty="0"/>
              <a:t>[:]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36BAB-3E84-18E3-3FE1-EA4D83CAE4A9}"/>
              </a:ext>
            </a:extLst>
          </p:cNvPr>
          <p:cNvSpPr txBox="1"/>
          <p:nvPr/>
        </p:nvSpPr>
        <p:spPr>
          <a:xfrm>
            <a:off x="777239" y="3143640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.copy() method</a:t>
            </a:r>
          </a:p>
          <a:p>
            <a:r>
              <a:rPr lang="en-US" dirty="0"/>
              <a:t>copy = </a:t>
            </a:r>
            <a:r>
              <a:rPr lang="en-US" dirty="0" err="1"/>
              <a:t>my_list.copy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9935D-880D-0AC0-7920-5F40C0A54DF3}"/>
              </a:ext>
            </a:extLst>
          </p:cNvPr>
          <p:cNvSpPr txBox="1"/>
          <p:nvPr/>
        </p:nvSpPr>
        <p:spPr>
          <a:xfrm>
            <a:off x="777239" y="4264128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list() constructor</a:t>
            </a:r>
          </a:p>
          <a:p>
            <a:r>
              <a:rPr lang="en-US" dirty="0"/>
              <a:t>copy = list(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3274A-BA4E-8CBC-CDC8-AD981DF22270}"/>
              </a:ext>
            </a:extLst>
          </p:cNvPr>
          <p:cNvSpPr txBox="1"/>
          <p:nvPr/>
        </p:nvSpPr>
        <p:spPr>
          <a:xfrm>
            <a:off x="777239" y="4982488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# Deep copy (use when list contains nested lists)</a:t>
            </a:r>
          </a:p>
          <a:p>
            <a:r>
              <a:rPr lang="en-US" dirty="0"/>
              <a:t>import copy</a:t>
            </a:r>
          </a:p>
          <a:p>
            <a:r>
              <a:rPr lang="en-US" dirty="0"/>
              <a:t>copy = </a:t>
            </a:r>
            <a:r>
              <a:rPr lang="en-US" dirty="0" err="1"/>
              <a:t>copy.deepcopy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56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750C-9CF6-EAE2-6DEA-7A03850A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586D-F8EA-11B6-DF13-FCABC199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TUPLES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E354D-6DE8-1A66-EFAD-DE4A92076AFB}"/>
              </a:ext>
            </a:extLst>
          </p:cNvPr>
          <p:cNvSpPr txBox="1"/>
          <p:nvPr/>
        </p:nvSpPr>
        <p:spPr>
          <a:xfrm>
            <a:off x="815740" y="1305341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my_tuple</a:t>
            </a:r>
            <a:r>
              <a:rPr lang="en-US" dirty="0"/>
              <a:t> = (1, 2, 3)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DD2AD-20AD-EB44-2986-C11FD8E6B7EB}"/>
              </a:ext>
            </a:extLst>
          </p:cNvPr>
          <p:cNvSpPr txBox="1"/>
          <p:nvPr/>
        </p:nvSpPr>
        <p:spPr>
          <a:xfrm>
            <a:off x="815740" y="1953246"/>
            <a:ext cx="8068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Since tuples are immutable, you rarely need to copy them</a:t>
            </a:r>
          </a:p>
          <a:p>
            <a:r>
              <a:rPr lang="en-US" dirty="0"/>
              <a:t># Simply assign — both variables safely point to the same object</a:t>
            </a:r>
          </a:p>
          <a:p>
            <a:r>
              <a:rPr lang="en-US" dirty="0"/>
              <a:t>copy = </a:t>
            </a:r>
            <a:r>
              <a:rPr lang="en-US" dirty="0" err="1"/>
              <a:t>my_tuple</a:t>
            </a:r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2228F6-9583-4767-010E-5EB5432A0B12}"/>
              </a:ext>
            </a:extLst>
          </p:cNvPr>
          <p:cNvSpPr txBox="1"/>
          <p:nvPr/>
        </p:nvSpPr>
        <p:spPr>
          <a:xfrm>
            <a:off x="815739" y="3704426"/>
            <a:ext cx="6460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tuple() constructor (creates a new object)</a:t>
            </a:r>
          </a:p>
          <a:p>
            <a:r>
              <a:rPr lang="en-US" dirty="0"/>
              <a:t>copy = tuple(</a:t>
            </a:r>
            <a:r>
              <a:rPr lang="en-US" dirty="0" err="1"/>
              <a:t>my_tuple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ACF4B-2712-C751-E9EF-DAD77DBC61F1}"/>
              </a:ext>
            </a:extLst>
          </p:cNvPr>
          <p:cNvSpPr txBox="1"/>
          <p:nvPr/>
        </p:nvSpPr>
        <p:spPr>
          <a:xfrm>
            <a:off x="815739" y="4722607"/>
            <a:ext cx="91464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Deep copy (use when tuple contains nested mutable objects)</a:t>
            </a:r>
          </a:p>
          <a:p>
            <a:r>
              <a:rPr lang="en-US" dirty="0"/>
              <a:t>import copy</a:t>
            </a:r>
          </a:p>
          <a:p>
            <a:r>
              <a:rPr lang="en-US" dirty="0"/>
              <a:t>copy = </a:t>
            </a:r>
            <a:r>
              <a:rPr lang="en-US" dirty="0" err="1"/>
              <a:t>copy.deepcopy</a:t>
            </a:r>
            <a:r>
              <a:rPr lang="en-US" dirty="0"/>
              <a:t>(</a:t>
            </a:r>
            <a:r>
              <a:rPr lang="en-US" dirty="0" err="1"/>
              <a:t>my_tuple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575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 – Basic algos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10083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Mutable and immutable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Working with tuples and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EE81-699F-1ADA-85CB-3532288F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85A6-A544-7EFA-83E0-DC2F466F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stuff about dictionaries</a:t>
            </a:r>
          </a:p>
        </p:txBody>
      </p:sp>
    </p:spTree>
    <p:extLst>
      <p:ext uri="{BB962C8B-B14F-4D97-AF65-F5344CB8AC3E}">
        <p14:creationId xmlns:p14="http://schemas.microsoft.com/office/powerpoint/2010/main" val="3773540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8BCFF-F88D-9947-8910-B16FF4E68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Work with nested lists to represent arrays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4D349-7CB9-0570-C5A9-74E3AAE2B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3177</TotalTime>
  <Words>1099</Words>
  <Application>Microsoft Office PowerPoint</Application>
  <PresentationFormat>Widescreen</PresentationFormat>
  <Paragraphs>137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Arial Bold</vt:lpstr>
      <vt:lpstr>Courier New</vt:lpstr>
      <vt:lpstr>US Army 2023 AFC DEVCOM Logo</vt:lpstr>
      <vt:lpstr>Data Structures Basics</vt:lpstr>
      <vt:lpstr> Course Schedule</vt:lpstr>
      <vt:lpstr>Review</vt:lpstr>
      <vt:lpstr>What did we do last lesson?</vt:lpstr>
      <vt:lpstr>Pre class problem 1</vt:lpstr>
      <vt:lpstr>Objectives</vt:lpstr>
      <vt:lpstr>Lists</vt:lpstr>
      <vt:lpstr>TUPLES</vt:lpstr>
      <vt:lpstr>MUTABLE VS IMMUTABLE</vt:lpstr>
      <vt:lpstr>Initializing Lists</vt:lpstr>
      <vt:lpstr>Initializing TUPLES</vt:lpstr>
      <vt:lpstr>A NOTE ABOUT LISTS</vt:lpstr>
      <vt:lpstr>Copying Lists</vt:lpstr>
      <vt:lpstr>Copying TUPLES</vt:lpstr>
      <vt:lpstr>Hands-On #1 – Basic algos</vt:lpstr>
      <vt:lpstr>Add stuff about dictionaries</vt:lpstr>
      <vt:lpstr>Hands-On #2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Ryan Neville</cp:lastModifiedBy>
  <cp:revision>142</cp:revision>
  <dcterms:created xsi:type="dcterms:W3CDTF">2025-07-09T23:54:51Z</dcterms:created>
  <dcterms:modified xsi:type="dcterms:W3CDTF">2026-06-24T17:38:46Z</dcterms:modified>
</cp:coreProperties>
</file>